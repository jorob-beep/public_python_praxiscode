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5" r:id="rId2"/>
    <p:sldId id="256" r:id="rId3"/>
    <p:sldId id="257" r:id="rId4"/>
    <p:sldId id="258" r:id="rId5"/>
    <p:sldId id="262" r:id="rId6"/>
    <p:sldId id="264" r:id="rId7"/>
    <p:sldId id="259" r:id="rId8"/>
    <p:sldId id="260" r:id="rId9"/>
    <p:sldId id="263" r:id="rId10"/>
    <p:sldId id="261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865" autoAdjust="0"/>
    <p:restoredTop sz="94660"/>
  </p:normalViewPr>
  <p:slideViewPr>
    <p:cSldViewPr snapToGrid="0">
      <p:cViewPr varScale="1">
        <p:scale>
          <a:sx n="99" d="100"/>
          <a:sy n="99" d="100"/>
        </p:scale>
        <p:origin x="7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3EF2184-4B55-428A-9945-B1ADBAECD9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1962ED83-6974-4C60-8C4A-A1C7ED1A3C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GB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116C3F7-1F78-4406-8867-CBF5547127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9DF9E-B834-42DF-B7BC-B33AAF9DF492}" type="datetimeFigureOut">
              <a:rPr lang="en-GB" smtClean="0"/>
              <a:t>18/06/2025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0C5B22A-FDA3-492D-8C80-D12CAAF864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CAE3209-3D0A-4C32-8B3E-9DB1B25E33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CD99B-9200-4EAA-9FDC-9C59396E8499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133429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5BEFF3D-5A30-4E1C-8B64-23AC2748FA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0BEC50A-32A6-4C6E-A7EB-A837B2E3FF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CB8A096-50A8-4A67-85F9-7DBCF08641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9DF9E-B834-42DF-B7BC-B33AAF9DF492}" type="datetimeFigureOut">
              <a:rPr lang="en-GB" smtClean="0"/>
              <a:t>18/06/2025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FF918BD-D541-4C4B-8A3E-6FC458822E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5E6FFF4-FE51-4F1C-8F09-D28C53CA7B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CD99B-9200-4EAA-9FDC-9C59396E8499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83508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F3F6FBD-4558-407C-9A15-B81A735125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75CFC55-E70D-493F-B24E-7E7407DBA8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364FD71-C40E-413B-AAA1-F60FA8667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9DF9E-B834-42DF-B7BC-B33AAF9DF492}" type="datetimeFigureOut">
              <a:rPr lang="en-GB" smtClean="0"/>
              <a:t>18/06/2025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2A00490-CB6C-44B8-8FD4-65FEA64909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DFB6009-D703-4652-BE1C-4E9E34BE7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CD99B-9200-4EAA-9FDC-9C59396E8499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6089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974CCB4-978C-4449-ABB0-243B87CA57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47863B1-E820-4757-BC89-3DF9B189646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1C56ACB9-C58B-46EB-A30E-5AEF49034D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0D4E564-62B9-4DEE-AC3E-EC9DB88C51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9DF9E-B834-42DF-B7BC-B33AAF9DF492}" type="datetimeFigureOut">
              <a:rPr lang="en-GB" smtClean="0"/>
              <a:t>18/06/2025</a:t>
            </a:fld>
            <a:endParaRPr lang="en-GB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0254AA06-DB78-4EA7-8E0E-A1A2B928D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2798B31-C6C1-4692-BE74-C9A7C48AD0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CD99B-9200-4EAA-9FDC-9C59396E8499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515532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978A5F2-E7C7-4490-ADBD-D67661F342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D8FB6B2-0C40-42BE-B7E2-771185B844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3D115855-DC3D-49D2-AC62-8617C6A108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AEB7C6DA-62F3-47C0-B49B-675D1517009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5A554AEE-0E5A-47BD-AEB5-8A08AC5936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B123C130-D93A-4FD7-AD4F-ABA1649018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9DF9E-B834-42DF-B7BC-B33AAF9DF492}" type="datetimeFigureOut">
              <a:rPr lang="en-GB" smtClean="0"/>
              <a:t>18/06/2025</a:t>
            </a:fld>
            <a:endParaRPr lang="en-GB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7DE0884A-425C-439F-AF30-7CBB08083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F3ECD66B-04DD-4EAD-BD1C-4219CC01C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CD99B-9200-4EAA-9FDC-9C59396E8499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081957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B00A022-46E3-45BD-8BDE-5D260E429C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32640D6B-953C-4915-8F1F-5F534BB15E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9DF9E-B834-42DF-B7BC-B33AAF9DF492}" type="datetimeFigureOut">
              <a:rPr lang="en-GB" smtClean="0"/>
              <a:t>18/06/2025</a:t>
            </a:fld>
            <a:endParaRPr lang="en-GB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92C4BD5-5E9D-4E60-909F-C2139B9BA2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B7817CE3-DC8A-43EA-A4BA-D4332BED33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CD99B-9200-4EAA-9FDC-9C59396E8499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057161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8AC4B987-4680-4813-97F3-FBD74B9DDF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9DF9E-B834-42DF-B7BC-B33AAF9DF492}" type="datetimeFigureOut">
              <a:rPr lang="en-GB" smtClean="0"/>
              <a:t>18/06/2025</a:t>
            </a:fld>
            <a:endParaRPr lang="en-GB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8810AC2A-F6E6-4DE7-8242-DA61BEE7A6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755E0EF-D023-44CA-8EAB-CB82A9CA08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CD99B-9200-4EAA-9FDC-9C59396E8499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529008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EED867F-C377-4BEC-A003-8FE4AA8E37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8B0C3F7-C1EA-4125-8F82-7393D6C374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99D9EBBF-4C42-47F0-838D-A6325652E2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6744381-12C6-483E-8562-5526B2FF14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9DF9E-B834-42DF-B7BC-B33AAF9DF492}" type="datetimeFigureOut">
              <a:rPr lang="en-GB" smtClean="0"/>
              <a:t>18/06/2025</a:t>
            </a:fld>
            <a:endParaRPr lang="en-GB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FC3A478-21EC-44F9-8444-C0C73151E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F565E2C-893A-46CA-843A-1197EC315D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CD99B-9200-4EAA-9FDC-9C59396E8499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719553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B503C55-A6B6-4904-8FB2-9BE69D0628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25F03333-89B2-4E06-9D6D-97559E1D0F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59B1C7C9-547F-4DA6-89C7-0BF791B80C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972A1CF6-2733-498E-A38F-FF1A677C80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9DF9E-B834-42DF-B7BC-B33AAF9DF492}" type="datetimeFigureOut">
              <a:rPr lang="en-GB" smtClean="0"/>
              <a:t>18/06/2025</a:t>
            </a:fld>
            <a:endParaRPr lang="en-GB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78255A4-AB5A-41D7-A3F7-DC524EB2B7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AD5693F-7FCC-4D2C-AE8F-86E14FD25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CD99B-9200-4EAA-9FDC-9C59396E8499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577553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A3A38E0-13E4-4CEE-8A13-AEA55840F9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B63A561C-F4B0-47A5-8DBF-1578F299AF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AFA84E7-CB4E-45E3-868D-E098639133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9DF9E-B834-42DF-B7BC-B33AAF9DF492}" type="datetimeFigureOut">
              <a:rPr lang="en-GB" smtClean="0"/>
              <a:t>18/06/2025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B4C8DF6-AC4C-4B9D-A2AC-E62BE24137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FE53925-0268-4DD5-9894-D6BF8112A7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CD99B-9200-4EAA-9FDC-9C59396E8499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283018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1524EB05-B4DF-40E1-9911-16759819AC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053AD8AB-8A56-4D58-9BEA-C00DE79D7F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B1B5E36-A5A5-4E4C-943C-6D00D13E91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9DF9E-B834-42DF-B7BC-B33AAF9DF492}" type="datetimeFigureOut">
              <a:rPr lang="en-GB" smtClean="0"/>
              <a:t>18/06/2025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EBF2D97-9E4D-42E2-B6DE-12E8BD9644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247E782-70AE-4436-9E6F-995508014D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1CD99B-9200-4EAA-9FDC-9C59396E8499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034542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70770EEF-2933-4EE1-9825-5F4A0AB92A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5CEC7A1-25CE-41CC-9FC7-85236CACB9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FBB2AC6-EBF7-4FE9-9646-85321FE59F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59DF9E-B834-42DF-B7BC-B33AAF9DF492}" type="datetimeFigureOut">
              <a:rPr lang="en-GB" smtClean="0"/>
              <a:t>18/06/2025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F56E0FE-CB5A-4462-959D-71D3D6DEE6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CC98EC4-E19C-484E-A699-3103BC2888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1CD99B-9200-4EAA-9FDC-9C59396E8499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639362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23000">
              <a:schemeClr val="accent1">
                <a:lumMod val="5000"/>
                <a:lumOff val="9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41CF386-8442-4406-90DC-8AC695B044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WarenWeltOOP</a:t>
            </a:r>
            <a:r>
              <a:rPr lang="de-DE" dirty="0"/>
              <a:t>: Was habe ich benutzt?</a:t>
            </a:r>
            <a:endParaRPr lang="en-GB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C9BB310-0EED-4B2E-87CC-BD226AA879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de-DE" b="1" u="sng" dirty="0"/>
              <a:t>Inhalt:</a:t>
            </a:r>
          </a:p>
          <a:p>
            <a:pPr marL="514350" indent="-514350">
              <a:buFont typeface="+mj-lt"/>
              <a:buAutoNum type="arabicPeriod"/>
            </a:pPr>
            <a:r>
              <a:rPr lang="de-DE" dirty="0"/>
              <a:t>Jinja2</a:t>
            </a:r>
          </a:p>
          <a:p>
            <a:pPr marL="514350" indent="-514350">
              <a:buFont typeface="+mj-lt"/>
              <a:buAutoNum type="arabicPeriod"/>
            </a:pPr>
            <a:r>
              <a:rPr lang="de-DE" dirty="0" err="1"/>
              <a:t>Flask</a:t>
            </a:r>
            <a:r>
              <a:rPr lang="de-DE" dirty="0"/>
              <a:t> Views</a:t>
            </a:r>
          </a:p>
          <a:p>
            <a:pPr marL="514350" indent="-514350">
              <a:buFont typeface="+mj-lt"/>
              <a:buAutoNum type="arabicPeriod"/>
            </a:pPr>
            <a:r>
              <a:rPr lang="de-DE" dirty="0"/>
              <a:t>SQL-</a:t>
            </a:r>
            <a:r>
              <a:rPr lang="de-DE" dirty="0" err="1"/>
              <a:t>Alchemy</a:t>
            </a:r>
            <a:r>
              <a:rPr lang="de-DE" dirty="0"/>
              <a:t>-Modell</a:t>
            </a:r>
          </a:p>
          <a:p>
            <a:pPr marL="514350" indent="-514350">
              <a:buFont typeface="+mj-lt"/>
              <a:buAutoNum type="arabicPeriod"/>
            </a:pPr>
            <a:r>
              <a:rPr lang="de-DE" dirty="0" err="1"/>
              <a:t>Flask</a:t>
            </a:r>
            <a:r>
              <a:rPr lang="de-DE" dirty="0"/>
              <a:t>-Login</a:t>
            </a:r>
          </a:p>
          <a:p>
            <a:pPr marL="514350" indent="-514350">
              <a:buFont typeface="+mj-lt"/>
              <a:buAutoNum type="arabicPeriod"/>
            </a:pPr>
            <a:r>
              <a:rPr lang="de-DE" dirty="0"/>
              <a:t>__init__.py</a:t>
            </a:r>
          </a:p>
          <a:p>
            <a:pPr marL="514350" indent="-514350">
              <a:buFont typeface="+mj-lt"/>
              <a:buAutoNum type="arabicPeriod"/>
            </a:pPr>
            <a:r>
              <a:rPr lang="de-DE" dirty="0"/>
              <a:t>Passwort </a:t>
            </a:r>
            <a:r>
              <a:rPr lang="de-DE" dirty="0" err="1"/>
              <a:t>hashing</a:t>
            </a:r>
            <a:endParaRPr lang="de-DE" dirty="0"/>
          </a:p>
          <a:p>
            <a:pPr marL="514350" indent="-514350">
              <a:buFont typeface="+mj-lt"/>
              <a:buAutoNum type="arabicPeriod"/>
            </a:pPr>
            <a:r>
              <a:rPr lang="de-DE" dirty="0"/>
              <a:t>Request</a:t>
            </a:r>
          </a:p>
          <a:p>
            <a:pPr marL="514350" indent="-514350">
              <a:buFont typeface="+mj-lt"/>
              <a:buAutoNum type="arabicPeriod"/>
            </a:pPr>
            <a:r>
              <a:rPr lang="de-DE" dirty="0"/>
              <a:t>Flash</a:t>
            </a:r>
          </a:p>
          <a:p>
            <a:pPr marL="514350" indent="-514350">
              <a:buFont typeface="+mj-lt"/>
              <a:buAutoNum type="arabicPeriod"/>
            </a:pPr>
            <a:r>
              <a:rPr lang="de-DE" dirty="0" err="1"/>
              <a:t>Blueprint</a:t>
            </a:r>
            <a:endParaRPr lang="de-DE" dirty="0"/>
          </a:p>
          <a:p>
            <a:pPr marL="514350" indent="-514350">
              <a:buFont typeface="+mj-lt"/>
              <a:buAutoNum type="arabicPeriod"/>
            </a:pPr>
            <a:r>
              <a:rPr lang="de-DE" dirty="0"/>
              <a:t>Tailwindcss.com</a:t>
            </a:r>
          </a:p>
          <a:p>
            <a:pPr marL="514350" indent="-514350">
              <a:buFont typeface="+mj-lt"/>
              <a:buAutoNum type="arabicPeriod"/>
            </a:pPr>
            <a:endParaRPr lang="de-DE" dirty="0"/>
          </a:p>
          <a:p>
            <a:pPr marL="514350" indent="-514350">
              <a:buFont typeface="+mj-lt"/>
              <a:buAutoNum type="arabicPeriod"/>
            </a:pPr>
            <a:endParaRPr lang="de-DE" dirty="0"/>
          </a:p>
          <a:p>
            <a:pPr marL="514350" indent="-514350">
              <a:buFont typeface="+mj-lt"/>
              <a:buAutoNum type="arabicPeriod"/>
            </a:pPr>
            <a:endParaRPr lang="de-DE" dirty="0"/>
          </a:p>
          <a:p>
            <a:pPr marL="514350" indent="-514350">
              <a:buFont typeface="+mj-lt"/>
              <a:buAutoNum type="alphaLcParenR"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873030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23000">
              <a:schemeClr val="accent1">
                <a:lumMod val="5000"/>
                <a:lumOff val="9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feld 7">
            <a:extLst>
              <a:ext uri="{FF2B5EF4-FFF2-40B4-BE49-F238E27FC236}">
                <a16:creationId xmlns:a16="http://schemas.microsoft.com/office/drawing/2014/main" id="{B190960E-25AB-40CA-B751-C7813E328444}"/>
              </a:ext>
            </a:extLst>
          </p:cNvPr>
          <p:cNvSpPr txBox="1"/>
          <p:nvPr/>
        </p:nvSpPr>
        <p:spPr>
          <a:xfrm>
            <a:off x="841612" y="897272"/>
            <a:ext cx="5254388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dirty="0"/>
              <a:t>Jinja2 Syntax:</a:t>
            </a:r>
            <a:r>
              <a:rPr lang="de-DE" sz="2400" dirty="0"/>
              <a:t> </a:t>
            </a:r>
            <a:br>
              <a:rPr lang="de-DE" dirty="0"/>
            </a:br>
            <a:r>
              <a:rPr lang="de-DE" dirty="0"/>
              <a:t>Befehle in der HTML womit HTML-Seiten dynamisch generiert werden. </a:t>
            </a:r>
          </a:p>
          <a:p>
            <a:r>
              <a:rPr lang="de-DE" dirty="0" err="1"/>
              <a:t>zB</a:t>
            </a:r>
            <a:r>
              <a:rPr lang="de-DE" dirty="0"/>
              <a:t>.: </a:t>
            </a:r>
          </a:p>
          <a:p>
            <a:endParaRPr lang="de-DE" dirty="0"/>
          </a:p>
          <a:p>
            <a:r>
              <a:rPr lang="de-DE" dirty="0"/>
              <a:t>{{ variable }}</a:t>
            </a:r>
          </a:p>
          <a:p>
            <a:endParaRPr lang="de-DE" dirty="0"/>
          </a:p>
          <a:p>
            <a:r>
              <a:rPr lang="de-DE" dirty="0"/>
              <a:t>Oder:</a:t>
            </a:r>
          </a:p>
          <a:p>
            <a:endParaRPr lang="de-DE" dirty="0"/>
          </a:p>
          <a:p>
            <a:r>
              <a:rPr lang="de-DE" dirty="0"/>
              <a:t>{% ... %}   Steuerlogik wie </a:t>
            </a:r>
            <a:r>
              <a:rPr lang="de-DE" dirty="0" err="1"/>
              <a:t>if</a:t>
            </a:r>
            <a:r>
              <a:rPr lang="de-DE" dirty="0"/>
              <a:t>, </a:t>
            </a:r>
            <a:r>
              <a:rPr lang="de-DE" dirty="0" err="1"/>
              <a:t>for</a:t>
            </a:r>
            <a:r>
              <a:rPr lang="de-DE" dirty="0"/>
              <a:t>, etc.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334555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23000">
              <a:schemeClr val="accent1">
                <a:lumMod val="5000"/>
                <a:lumOff val="9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feld 3">
            <a:extLst>
              <a:ext uri="{FF2B5EF4-FFF2-40B4-BE49-F238E27FC236}">
                <a16:creationId xmlns:a16="http://schemas.microsoft.com/office/drawing/2014/main" id="{B73AF21B-19E8-456B-873D-C7F51D6A67C7}"/>
              </a:ext>
            </a:extLst>
          </p:cNvPr>
          <p:cNvSpPr txBox="1"/>
          <p:nvPr/>
        </p:nvSpPr>
        <p:spPr>
          <a:xfrm>
            <a:off x="841612" y="865157"/>
            <a:ext cx="5254388" cy="35086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dirty="0" err="1"/>
              <a:t>Flask</a:t>
            </a:r>
            <a:r>
              <a:rPr lang="de-DE" sz="2400" b="1" dirty="0"/>
              <a:t> </a:t>
            </a:r>
            <a:r>
              <a:rPr lang="de-DE" sz="2400" b="1" dirty="0">
                <a:solidFill>
                  <a:srgbClr val="FF0000"/>
                </a:solidFill>
              </a:rPr>
              <a:t>Views</a:t>
            </a:r>
            <a:r>
              <a:rPr lang="de-DE" sz="2400" b="1" dirty="0"/>
              <a:t>:</a:t>
            </a:r>
          </a:p>
          <a:p>
            <a:r>
              <a:rPr lang="de-DE" dirty="0"/>
              <a:t>Ein </a:t>
            </a:r>
            <a:r>
              <a:rPr lang="de-DE" b="1" dirty="0"/>
              <a:t>View</a:t>
            </a:r>
            <a:r>
              <a:rPr lang="de-DE" dirty="0"/>
              <a:t> ist eine Funktion (oder Klasse), die entscheidet, </a:t>
            </a:r>
            <a:r>
              <a:rPr lang="de-DE" b="1" dirty="0"/>
              <a:t>was dem Benutzer angezeigt wird</a:t>
            </a:r>
            <a:r>
              <a:rPr lang="de-DE" dirty="0"/>
              <a:t> – meist als HTML-Seite. Diese Funktion ist Controller und View in einem. (Model – View – Controller)</a:t>
            </a:r>
          </a:p>
          <a:p>
            <a:endParaRPr lang="de-DE" dirty="0"/>
          </a:p>
          <a:p>
            <a:r>
              <a:rPr lang="de-DE" dirty="0" err="1"/>
              <a:t>zB</a:t>
            </a:r>
            <a:r>
              <a:rPr lang="de-DE" dirty="0"/>
              <a:t>.:</a:t>
            </a:r>
          </a:p>
          <a:p>
            <a:endParaRPr lang="de-DE" dirty="0"/>
          </a:p>
          <a:p>
            <a:r>
              <a:rPr lang="nb-NO" dirty="0"/>
              <a:t>@app.route("/user/&lt;name&gt;")</a:t>
            </a:r>
          </a:p>
          <a:p>
            <a:r>
              <a:rPr lang="nb-NO" dirty="0"/>
              <a:t>def user_profile(name):</a:t>
            </a:r>
          </a:p>
          <a:p>
            <a:r>
              <a:rPr lang="nb-NO" dirty="0"/>
              <a:t>    user = get_user_from_db(name)</a:t>
            </a:r>
          </a:p>
          <a:p>
            <a:r>
              <a:rPr lang="nb-NO" dirty="0"/>
              <a:t>    return render_template("profile.html", user=user)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106751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23000">
              <a:schemeClr val="accent1">
                <a:lumMod val="5000"/>
                <a:lumOff val="9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feld 3">
            <a:extLst>
              <a:ext uri="{FF2B5EF4-FFF2-40B4-BE49-F238E27FC236}">
                <a16:creationId xmlns:a16="http://schemas.microsoft.com/office/drawing/2014/main" id="{D7F35590-3A64-4A15-A324-E16A21B985A4}"/>
              </a:ext>
            </a:extLst>
          </p:cNvPr>
          <p:cNvSpPr txBox="1"/>
          <p:nvPr/>
        </p:nvSpPr>
        <p:spPr>
          <a:xfrm>
            <a:off x="719691" y="755068"/>
            <a:ext cx="5254388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dirty="0" err="1"/>
              <a:t>SQLAlchemy</a:t>
            </a:r>
            <a:r>
              <a:rPr lang="de-DE" sz="2400" b="1" dirty="0"/>
              <a:t> Modell: </a:t>
            </a:r>
          </a:p>
          <a:p>
            <a:endParaRPr lang="de-DE" b="1" dirty="0"/>
          </a:p>
          <a:p>
            <a:r>
              <a:rPr lang="de-DE" dirty="0"/>
              <a:t>ist eine </a:t>
            </a:r>
            <a:r>
              <a:rPr lang="de-DE" b="1" dirty="0"/>
              <a:t>Python-Klasse</a:t>
            </a:r>
            <a:r>
              <a:rPr lang="de-DE" dirty="0"/>
              <a:t>, die eine </a:t>
            </a:r>
            <a:r>
              <a:rPr lang="de-DE" b="1" dirty="0"/>
              <a:t>Tabelle in einer Datenbank beschreibt. </a:t>
            </a:r>
            <a:r>
              <a:rPr lang="de-DE" dirty="0"/>
              <a:t>Dadurch kannst du mit </a:t>
            </a:r>
            <a:r>
              <a:rPr lang="de-DE" b="1" dirty="0"/>
              <a:t>Python-Objekten arbeiten</a:t>
            </a:r>
            <a:r>
              <a:rPr lang="de-DE" dirty="0"/>
              <a:t>, anstatt direkt SQL zu schreiben.</a:t>
            </a:r>
          </a:p>
          <a:p>
            <a:endParaRPr lang="de-DE" b="1" dirty="0"/>
          </a:p>
          <a:p>
            <a:r>
              <a:rPr lang="de-DE" b="1" dirty="0" err="1"/>
              <a:t>zB</a:t>
            </a:r>
            <a:r>
              <a:rPr lang="de-DE" b="1" dirty="0"/>
              <a:t>.:</a:t>
            </a:r>
          </a:p>
          <a:p>
            <a:r>
              <a:rPr lang="en-GB" b="1" dirty="0"/>
              <a:t>class Product(</a:t>
            </a:r>
            <a:r>
              <a:rPr lang="en-GB" b="1" dirty="0" err="1"/>
              <a:t>db.Model</a:t>
            </a:r>
            <a:r>
              <a:rPr lang="en-GB" b="1" dirty="0"/>
              <a:t>):</a:t>
            </a:r>
          </a:p>
          <a:p>
            <a:r>
              <a:rPr lang="en-GB" b="1" dirty="0"/>
              <a:t>    id = </a:t>
            </a:r>
            <a:r>
              <a:rPr lang="en-GB" b="1" dirty="0" err="1"/>
              <a:t>db.Column</a:t>
            </a:r>
            <a:r>
              <a:rPr lang="en-GB" b="1" dirty="0"/>
              <a:t>(</a:t>
            </a:r>
            <a:r>
              <a:rPr lang="en-GB" b="1" dirty="0" err="1"/>
              <a:t>db.Integer</a:t>
            </a:r>
            <a:r>
              <a:rPr lang="en-GB" b="1" dirty="0"/>
              <a:t>, </a:t>
            </a:r>
            <a:r>
              <a:rPr lang="en-GB" b="1" dirty="0" err="1"/>
              <a:t>primary_key</a:t>
            </a:r>
            <a:r>
              <a:rPr lang="en-GB" b="1" dirty="0"/>
              <a:t>=True)</a:t>
            </a:r>
          </a:p>
          <a:p>
            <a:r>
              <a:rPr lang="en-GB" b="1" dirty="0"/>
              <a:t>    name = </a:t>
            </a:r>
            <a:r>
              <a:rPr lang="en-GB" b="1" dirty="0" err="1"/>
              <a:t>db.Column</a:t>
            </a:r>
            <a:r>
              <a:rPr lang="en-GB" b="1" dirty="0"/>
              <a:t>(</a:t>
            </a:r>
            <a:r>
              <a:rPr lang="en-GB" b="1" dirty="0" err="1"/>
              <a:t>db.String</a:t>
            </a:r>
            <a:r>
              <a:rPr lang="en-GB" b="1" dirty="0"/>
              <a:t>(150), nullable=False)</a:t>
            </a:r>
          </a:p>
          <a:p>
            <a:r>
              <a:rPr lang="en-GB" b="1" dirty="0"/>
              <a:t>    price = </a:t>
            </a:r>
            <a:r>
              <a:rPr lang="en-GB" b="1" dirty="0" err="1"/>
              <a:t>db.Column</a:t>
            </a:r>
            <a:r>
              <a:rPr lang="en-GB" b="1" dirty="0"/>
              <a:t>(</a:t>
            </a:r>
            <a:r>
              <a:rPr lang="en-GB" b="1" dirty="0" err="1"/>
              <a:t>db.Float</a:t>
            </a:r>
            <a:r>
              <a:rPr lang="en-GB" b="1" dirty="0"/>
              <a:t>, nullable=False)</a:t>
            </a:r>
          </a:p>
          <a:p>
            <a:r>
              <a:rPr lang="en-GB" b="1" dirty="0"/>
              <a:t>    description = </a:t>
            </a:r>
            <a:r>
              <a:rPr lang="en-GB" b="1" dirty="0" err="1"/>
              <a:t>db.Column</a:t>
            </a:r>
            <a:r>
              <a:rPr lang="en-GB" b="1" dirty="0"/>
              <a:t>(</a:t>
            </a:r>
            <a:r>
              <a:rPr lang="en-GB" b="1" dirty="0" err="1"/>
              <a:t>db.Text</a:t>
            </a:r>
            <a:r>
              <a:rPr lang="en-GB" b="1" dirty="0"/>
              <a:t>)</a:t>
            </a:r>
          </a:p>
          <a:p>
            <a:r>
              <a:rPr lang="en-GB" b="1" dirty="0"/>
              <a:t>    </a:t>
            </a:r>
            <a:r>
              <a:rPr lang="en-GB" b="1" dirty="0" err="1"/>
              <a:t>image_url</a:t>
            </a:r>
            <a:r>
              <a:rPr lang="en-GB" b="1" dirty="0"/>
              <a:t> = </a:t>
            </a:r>
            <a:r>
              <a:rPr lang="en-GB" b="1" dirty="0" err="1"/>
              <a:t>db.Column</a:t>
            </a:r>
            <a:r>
              <a:rPr lang="en-GB" b="1" dirty="0"/>
              <a:t>(</a:t>
            </a:r>
            <a:r>
              <a:rPr lang="en-GB" b="1" dirty="0" err="1"/>
              <a:t>db.String</a:t>
            </a:r>
            <a:r>
              <a:rPr lang="en-GB" b="1" dirty="0"/>
              <a:t>(500))</a:t>
            </a:r>
          </a:p>
          <a:p>
            <a:r>
              <a:rPr lang="en-GB" b="1" dirty="0"/>
              <a:t>    category = </a:t>
            </a:r>
            <a:r>
              <a:rPr lang="en-GB" b="1" dirty="0" err="1"/>
              <a:t>db.Column</a:t>
            </a:r>
            <a:r>
              <a:rPr lang="en-GB" b="1" dirty="0"/>
              <a:t>(</a:t>
            </a:r>
            <a:r>
              <a:rPr lang="en-GB" b="1" dirty="0" err="1"/>
              <a:t>db.String</a:t>
            </a:r>
            <a:r>
              <a:rPr lang="en-GB" b="1" dirty="0"/>
              <a:t>(50), nullable=False)</a:t>
            </a:r>
          </a:p>
          <a:p>
            <a:r>
              <a:rPr lang="en-GB" b="1" dirty="0"/>
              <a:t>    weight = </a:t>
            </a:r>
            <a:r>
              <a:rPr lang="en-GB" b="1" dirty="0" err="1"/>
              <a:t>db.Column</a:t>
            </a:r>
            <a:r>
              <a:rPr lang="en-GB" b="1" dirty="0"/>
              <a:t>(</a:t>
            </a:r>
            <a:r>
              <a:rPr lang="en-GB" b="1" dirty="0" err="1"/>
              <a:t>db.Float</a:t>
            </a:r>
            <a:r>
              <a:rPr lang="en-GB" b="1" dirty="0"/>
              <a:t>, nullable=False, default=0.0)</a:t>
            </a:r>
          </a:p>
        </p:txBody>
      </p:sp>
    </p:spTree>
    <p:extLst>
      <p:ext uri="{BB962C8B-B14F-4D97-AF65-F5344CB8AC3E}">
        <p14:creationId xmlns:p14="http://schemas.microsoft.com/office/powerpoint/2010/main" val="37304600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23000">
              <a:schemeClr val="accent1">
                <a:lumMod val="5000"/>
                <a:lumOff val="9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feld 3">
            <a:extLst>
              <a:ext uri="{FF2B5EF4-FFF2-40B4-BE49-F238E27FC236}">
                <a16:creationId xmlns:a16="http://schemas.microsoft.com/office/drawing/2014/main" id="{72D69251-511D-4E6E-AD8C-35F339D21FBA}"/>
              </a:ext>
            </a:extLst>
          </p:cNvPr>
          <p:cNvSpPr txBox="1"/>
          <p:nvPr/>
        </p:nvSpPr>
        <p:spPr>
          <a:xfrm>
            <a:off x="554658" y="434694"/>
            <a:ext cx="750613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dirty="0" err="1"/>
              <a:t>Flask_login</a:t>
            </a:r>
            <a:r>
              <a:rPr lang="de-DE" sz="2400" b="1" dirty="0"/>
              <a:t>:</a:t>
            </a:r>
          </a:p>
          <a:p>
            <a:endParaRPr lang="de-DE" sz="2400" b="1" dirty="0"/>
          </a:p>
          <a:p>
            <a:r>
              <a:rPr lang="de-DE" sz="2000" dirty="0"/>
              <a:t>ist eine </a:t>
            </a:r>
            <a:r>
              <a:rPr lang="de-DE" sz="2000" b="1" dirty="0"/>
              <a:t>Erweiterung für </a:t>
            </a:r>
            <a:r>
              <a:rPr lang="de-DE" sz="2000" b="1" dirty="0" err="1"/>
              <a:t>Flask</a:t>
            </a:r>
            <a:r>
              <a:rPr lang="de-DE" sz="2000" dirty="0"/>
              <a:t>, die es einfach macht, </a:t>
            </a:r>
            <a:r>
              <a:rPr lang="de-DE" sz="2000" b="1" dirty="0"/>
              <a:t>Benutzer-Login, Logout und Sitzungsverwaltung</a:t>
            </a:r>
            <a:r>
              <a:rPr lang="de-DE" sz="2000" dirty="0"/>
              <a:t> in deine Webanwendung zu integrieren.</a:t>
            </a:r>
            <a:endParaRPr lang="en-GB" sz="2400" dirty="0"/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53EA03DA-43FB-4D81-84BB-F9FF3AC37FE6}"/>
              </a:ext>
            </a:extLst>
          </p:cNvPr>
          <p:cNvSpPr txBox="1"/>
          <p:nvPr/>
        </p:nvSpPr>
        <p:spPr>
          <a:xfrm>
            <a:off x="554658" y="2602523"/>
            <a:ext cx="750613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Welche Komponenten habe ich integriert?</a:t>
            </a:r>
          </a:p>
          <a:p>
            <a:pPr marL="342900" indent="-342900">
              <a:buAutoNum type="arabicParenR"/>
            </a:pPr>
            <a:r>
              <a:rPr lang="de-DE" dirty="0"/>
              <a:t>Setup: Login Manager in</a:t>
            </a:r>
            <a:r>
              <a:rPr lang="de-DE" dirty="0">
                <a:solidFill>
                  <a:srgbClr val="FF0000"/>
                </a:solidFill>
              </a:rPr>
              <a:t> __init__.py</a:t>
            </a:r>
          </a:p>
          <a:p>
            <a:pPr marL="342900" indent="-342900">
              <a:buAutoNum type="arabicParenR"/>
            </a:pPr>
            <a:r>
              <a:rPr lang="de-DE" dirty="0" err="1"/>
              <a:t>UserMixin</a:t>
            </a:r>
            <a:r>
              <a:rPr lang="de-DE" dirty="0"/>
              <a:t>: (Benutzerklassen) SQL-</a:t>
            </a:r>
            <a:r>
              <a:rPr lang="de-DE" dirty="0" err="1"/>
              <a:t>Alchemy</a:t>
            </a:r>
            <a:r>
              <a:rPr lang="de-DE" dirty="0"/>
              <a:t> muss bestimmt Eigenschaften  haben </a:t>
            </a:r>
            <a:r>
              <a:rPr lang="de-DE" dirty="0">
                <a:solidFill>
                  <a:srgbClr val="FF0000"/>
                </a:solidFill>
              </a:rPr>
              <a:t>(models.py)</a:t>
            </a:r>
          </a:p>
          <a:p>
            <a:pPr marL="342900" indent="-342900">
              <a:buAutoNum type="arabicParenR"/>
            </a:pPr>
            <a:r>
              <a:rPr lang="de-DE" dirty="0"/>
              <a:t>Benutzer laden: in </a:t>
            </a:r>
            <a:r>
              <a:rPr lang="de-DE" dirty="0">
                <a:solidFill>
                  <a:srgbClr val="FF0000"/>
                </a:solidFill>
              </a:rPr>
              <a:t>__init__.py</a:t>
            </a:r>
          </a:p>
          <a:p>
            <a:pPr marL="342900" indent="-342900">
              <a:buAutoNum type="arabicParenR"/>
            </a:pPr>
            <a:r>
              <a:rPr lang="de-DE" dirty="0"/>
              <a:t>Login-View: @</a:t>
            </a:r>
            <a:r>
              <a:rPr lang="de-DE" dirty="0" err="1"/>
              <a:t>app.route</a:t>
            </a:r>
            <a:r>
              <a:rPr lang="de-DE" dirty="0"/>
              <a:t>…. </a:t>
            </a:r>
            <a:r>
              <a:rPr lang="de-DE" dirty="0" err="1"/>
              <a:t>Def</a:t>
            </a:r>
            <a:r>
              <a:rPr lang="de-DE" dirty="0"/>
              <a:t> </a:t>
            </a:r>
            <a:r>
              <a:rPr lang="de-DE" dirty="0" err="1"/>
              <a:t>login</a:t>
            </a:r>
            <a:r>
              <a:rPr lang="de-DE" dirty="0"/>
              <a:t>():    in </a:t>
            </a:r>
            <a:r>
              <a:rPr lang="de-DE" dirty="0">
                <a:solidFill>
                  <a:srgbClr val="FF0000"/>
                </a:solidFill>
              </a:rPr>
              <a:t>auth.py</a:t>
            </a:r>
          </a:p>
          <a:p>
            <a:pPr marL="342900" indent="-342900">
              <a:buAutoNum type="arabicParenR"/>
            </a:pPr>
            <a:r>
              <a:rPr lang="de-DE" dirty="0"/>
              <a:t>Geschützte Seite: @</a:t>
            </a:r>
            <a:r>
              <a:rPr lang="de-DE" dirty="0" err="1"/>
              <a:t>login_required</a:t>
            </a:r>
            <a:r>
              <a:rPr lang="de-DE" dirty="0"/>
              <a:t> in </a:t>
            </a:r>
            <a:r>
              <a:rPr lang="de-DE" dirty="0">
                <a:solidFill>
                  <a:srgbClr val="FF0000"/>
                </a:solidFill>
              </a:rPr>
              <a:t>views.py und auth.py</a:t>
            </a:r>
          </a:p>
          <a:p>
            <a:pPr marL="342900" indent="-342900">
              <a:buAutoNum type="arabicParenR"/>
            </a:pPr>
            <a:r>
              <a:rPr lang="de-DE" dirty="0"/>
              <a:t>Logout: in </a:t>
            </a:r>
            <a:r>
              <a:rPr lang="de-DE" dirty="0">
                <a:solidFill>
                  <a:srgbClr val="FF0000"/>
                </a:solidFill>
              </a:rPr>
              <a:t>auth.py</a:t>
            </a:r>
            <a:endParaRPr lang="en-GB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34078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23000">
              <a:schemeClr val="accent1">
                <a:lumMod val="5000"/>
                <a:lumOff val="9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feld 3">
            <a:extLst>
              <a:ext uri="{FF2B5EF4-FFF2-40B4-BE49-F238E27FC236}">
                <a16:creationId xmlns:a16="http://schemas.microsoft.com/office/drawing/2014/main" id="{72D69251-511D-4E6E-AD8C-35F339D21FBA}"/>
              </a:ext>
            </a:extLst>
          </p:cNvPr>
          <p:cNvSpPr txBox="1"/>
          <p:nvPr/>
        </p:nvSpPr>
        <p:spPr>
          <a:xfrm>
            <a:off x="841611" y="912995"/>
            <a:ext cx="8260185" cy="37240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b="1" dirty="0"/>
              <a:t>Was macht die __init__.py ?</a:t>
            </a:r>
          </a:p>
          <a:p>
            <a:endParaRPr lang="de-DE" sz="2800" b="1" dirty="0"/>
          </a:p>
          <a:p>
            <a:r>
              <a:rPr lang="de-DE" sz="2000" dirty="0"/>
              <a:t>Ohne __init__.py würde Python den Ordner nicht als </a:t>
            </a:r>
            <a:r>
              <a:rPr lang="de-DE" sz="2000" dirty="0" err="1"/>
              <a:t>importierbares</a:t>
            </a:r>
            <a:r>
              <a:rPr lang="de-DE" sz="2000" dirty="0"/>
              <a:t> Modul erkennen. </a:t>
            </a:r>
          </a:p>
          <a:p>
            <a:r>
              <a:rPr lang="de-DE" sz="2000" dirty="0"/>
              <a:t>Des weiteren macht die Datei:</a:t>
            </a:r>
          </a:p>
          <a:p>
            <a:endParaRPr lang="de-DE" sz="2000" dirty="0"/>
          </a:p>
          <a:p>
            <a:pPr marL="342900" indent="-342900">
              <a:buFontTx/>
              <a:buChar char="-"/>
            </a:pPr>
            <a:r>
              <a:rPr lang="de-DE" sz="2000" dirty="0" err="1"/>
              <a:t>Flask</a:t>
            </a:r>
            <a:r>
              <a:rPr lang="de-DE" sz="2000" dirty="0"/>
              <a:t>-App zu initialisieren,</a:t>
            </a:r>
          </a:p>
          <a:p>
            <a:pPr marL="342900" indent="-342900">
              <a:buFontTx/>
              <a:buChar char="-"/>
            </a:pPr>
            <a:r>
              <a:rPr lang="de-DE" sz="2000" dirty="0"/>
              <a:t>Richtet die Datenbankverbindung ein</a:t>
            </a:r>
          </a:p>
          <a:p>
            <a:pPr marL="342900" indent="-342900">
              <a:buFontTx/>
              <a:buChar char="-"/>
            </a:pPr>
            <a:r>
              <a:rPr lang="de-DE" sz="2000" dirty="0"/>
              <a:t>Registriert </a:t>
            </a:r>
            <a:r>
              <a:rPr lang="de-DE" sz="2000" dirty="0" err="1"/>
              <a:t>Blueprints</a:t>
            </a:r>
            <a:r>
              <a:rPr lang="de-DE" sz="2000" dirty="0"/>
              <a:t> (Routen)</a:t>
            </a:r>
          </a:p>
          <a:p>
            <a:pPr marL="342900" indent="-342900">
              <a:buFontTx/>
              <a:buChar char="-"/>
            </a:pPr>
            <a:r>
              <a:rPr lang="de-DE" sz="2000" dirty="0"/>
              <a:t>Lädt Modelle</a:t>
            </a:r>
          </a:p>
          <a:p>
            <a:pPr marL="342900" indent="-342900">
              <a:buFontTx/>
              <a:buChar char="-"/>
            </a:pPr>
            <a:r>
              <a:rPr lang="de-DE" sz="2000" dirty="0"/>
              <a:t>Konfiguriert das Login-Management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16734142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23000">
              <a:schemeClr val="accent1">
                <a:lumMod val="5000"/>
                <a:lumOff val="9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feld 3">
            <a:extLst>
              <a:ext uri="{FF2B5EF4-FFF2-40B4-BE49-F238E27FC236}">
                <a16:creationId xmlns:a16="http://schemas.microsoft.com/office/drawing/2014/main" id="{72D69251-511D-4E6E-AD8C-35F339D21FBA}"/>
              </a:ext>
            </a:extLst>
          </p:cNvPr>
          <p:cNvSpPr txBox="1"/>
          <p:nvPr/>
        </p:nvSpPr>
        <p:spPr>
          <a:xfrm>
            <a:off x="667199" y="687912"/>
            <a:ext cx="8856629" cy="42165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dirty="0"/>
              <a:t>Passwort </a:t>
            </a:r>
            <a:r>
              <a:rPr lang="de-DE" sz="2400" b="1" dirty="0" err="1"/>
              <a:t>gehasht</a:t>
            </a:r>
            <a:r>
              <a:rPr lang="de-DE" sz="2400" b="1" dirty="0"/>
              <a:t>:</a:t>
            </a:r>
          </a:p>
          <a:p>
            <a:endParaRPr lang="de-DE" sz="2400" b="1" dirty="0"/>
          </a:p>
          <a:p>
            <a:r>
              <a:rPr lang="en-GB" sz="2000" dirty="0"/>
              <a:t>from </a:t>
            </a:r>
            <a:r>
              <a:rPr lang="en-GB" sz="2000" dirty="0" err="1"/>
              <a:t>werkzeug.security</a:t>
            </a:r>
            <a:r>
              <a:rPr lang="en-GB" sz="2000" dirty="0"/>
              <a:t> import </a:t>
            </a:r>
            <a:r>
              <a:rPr lang="en-GB" sz="2000" dirty="0" err="1"/>
              <a:t>generate_password_hash</a:t>
            </a:r>
            <a:r>
              <a:rPr lang="en-GB" sz="2000" dirty="0"/>
              <a:t>, </a:t>
            </a:r>
            <a:r>
              <a:rPr lang="en-GB" sz="2000" dirty="0" err="1"/>
              <a:t>check_password_hash</a:t>
            </a:r>
            <a:endParaRPr lang="en-GB" sz="2000" dirty="0"/>
          </a:p>
          <a:p>
            <a:endParaRPr lang="de-DE" sz="2000" dirty="0"/>
          </a:p>
          <a:p>
            <a:endParaRPr lang="de-DE" sz="2000" dirty="0"/>
          </a:p>
          <a:p>
            <a:r>
              <a:rPr lang="de-DE" sz="2000" dirty="0"/>
              <a:t>z</a:t>
            </a:r>
            <a:r>
              <a:rPr lang="en-GB" sz="2000" dirty="0"/>
              <a:t>B.:</a:t>
            </a:r>
          </a:p>
          <a:p>
            <a:r>
              <a:rPr lang="de-DE" sz="2000" dirty="0"/>
              <a:t>"geheim123" → "9a6c98e8b1a304fc3f455923bd..." </a:t>
            </a:r>
          </a:p>
          <a:p>
            <a:endParaRPr lang="de-DE" sz="2000" dirty="0"/>
          </a:p>
          <a:p>
            <a:r>
              <a:rPr lang="de-DE" sz="2000" dirty="0"/>
              <a:t>In der Datenbank steht nur das </a:t>
            </a:r>
            <a:r>
              <a:rPr lang="de-DE" sz="2000" dirty="0" err="1"/>
              <a:t>gehashte</a:t>
            </a:r>
            <a:r>
              <a:rPr lang="de-DE" sz="2000" dirty="0"/>
              <a:t> Passwort. Das wird dann verglichen. </a:t>
            </a:r>
          </a:p>
          <a:p>
            <a:pPr marL="342900" indent="-342900">
              <a:buFontTx/>
              <a:buChar char="-"/>
            </a:pPr>
            <a:r>
              <a:rPr lang="de-DE" sz="2000" dirty="0"/>
              <a:t>Generiert wird das mit </a:t>
            </a:r>
            <a:r>
              <a:rPr lang="de-DE" sz="2000" dirty="0" err="1"/>
              <a:t>generate_password_hash</a:t>
            </a:r>
            <a:r>
              <a:rPr lang="de-DE" sz="2000" dirty="0"/>
              <a:t>(…) in auth.py (Zeile: 62)</a:t>
            </a:r>
          </a:p>
          <a:p>
            <a:pPr marL="342900" indent="-342900">
              <a:buFontTx/>
              <a:buChar char="-"/>
            </a:pPr>
            <a:r>
              <a:rPr lang="de-DE" sz="2000" dirty="0"/>
              <a:t>Überprüft wird das mit </a:t>
            </a:r>
            <a:r>
              <a:rPr lang="de-DE" sz="2000" dirty="0" err="1"/>
              <a:t>check_password_hash</a:t>
            </a:r>
            <a:r>
              <a:rPr lang="de-DE" sz="2000" dirty="0"/>
              <a:t>(…)  in auth.py (Zeile: 29)</a:t>
            </a:r>
          </a:p>
          <a:p>
            <a:endParaRPr lang="de-DE" sz="2000" dirty="0"/>
          </a:p>
          <a:p>
            <a:endParaRPr lang="de-DE" sz="2000" dirty="0"/>
          </a:p>
        </p:txBody>
      </p:sp>
    </p:spTree>
    <p:extLst>
      <p:ext uri="{BB962C8B-B14F-4D97-AF65-F5344CB8AC3E}">
        <p14:creationId xmlns:p14="http://schemas.microsoft.com/office/powerpoint/2010/main" val="33691612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23000">
              <a:schemeClr val="accent1">
                <a:lumMod val="5000"/>
                <a:lumOff val="9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feld 3">
            <a:extLst>
              <a:ext uri="{FF2B5EF4-FFF2-40B4-BE49-F238E27FC236}">
                <a16:creationId xmlns:a16="http://schemas.microsoft.com/office/drawing/2014/main" id="{72D69251-511D-4E6E-AD8C-35F339D21FBA}"/>
              </a:ext>
            </a:extLst>
          </p:cNvPr>
          <p:cNvSpPr txBox="1"/>
          <p:nvPr/>
        </p:nvSpPr>
        <p:spPr>
          <a:xfrm>
            <a:off x="624996" y="589438"/>
            <a:ext cx="525438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dirty="0"/>
              <a:t>Request:</a:t>
            </a:r>
          </a:p>
          <a:p>
            <a:r>
              <a:rPr lang="de-DE" dirty="0"/>
              <a:t>ein </a:t>
            </a:r>
            <a:r>
              <a:rPr lang="de-DE" b="1" dirty="0"/>
              <a:t>Objekt</a:t>
            </a:r>
            <a:r>
              <a:rPr lang="de-DE" dirty="0"/>
              <a:t>, das </a:t>
            </a:r>
            <a:r>
              <a:rPr lang="de-DE" b="1" dirty="0"/>
              <a:t>alle Informationen über die aktuelle HTTP-Anfrage</a:t>
            </a:r>
            <a:r>
              <a:rPr lang="de-DE" dirty="0"/>
              <a:t> enthält.   In</a:t>
            </a:r>
            <a:r>
              <a:rPr lang="de-DE" dirty="0">
                <a:solidFill>
                  <a:srgbClr val="FF0000"/>
                </a:solidFill>
              </a:rPr>
              <a:t> auth.py</a:t>
            </a:r>
          </a:p>
          <a:p>
            <a:endParaRPr lang="de-DE" b="1" dirty="0">
              <a:solidFill>
                <a:srgbClr val="FF0000"/>
              </a:solidFill>
            </a:endParaRPr>
          </a:p>
          <a:p>
            <a:r>
              <a:rPr lang="de-DE" sz="1600" dirty="0"/>
              <a:t>Möglichkeiten:</a:t>
            </a:r>
          </a:p>
          <a:p>
            <a:endParaRPr lang="en-GB" sz="2400" b="1" dirty="0"/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12B6F4F9-1DE0-43D4-99C4-7DB579B67D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997" y="2261614"/>
            <a:ext cx="6703852" cy="3798522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D5488301-0B17-42DA-8EAB-99866C6B6B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8849" y="1248105"/>
            <a:ext cx="8916644" cy="5315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18454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23000">
              <a:schemeClr val="accent1">
                <a:lumMod val="5000"/>
                <a:lumOff val="9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feld 3">
            <a:extLst>
              <a:ext uri="{FF2B5EF4-FFF2-40B4-BE49-F238E27FC236}">
                <a16:creationId xmlns:a16="http://schemas.microsoft.com/office/drawing/2014/main" id="{72D69251-511D-4E6E-AD8C-35F339D21FBA}"/>
              </a:ext>
            </a:extLst>
          </p:cNvPr>
          <p:cNvSpPr txBox="1"/>
          <p:nvPr/>
        </p:nvSpPr>
        <p:spPr>
          <a:xfrm>
            <a:off x="653131" y="687913"/>
            <a:ext cx="6619865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b="1" dirty="0"/>
              <a:t>Flash:</a:t>
            </a:r>
          </a:p>
          <a:p>
            <a:r>
              <a:rPr lang="de-DE" sz="2000" dirty="0"/>
              <a:t>mit der du </a:t>
            </a:r>
            <a:r>
              <a:rPr lang="de-DE" sz="2000" b="1" dirty="0"/>
              <a:t>kurze Nachrichten (z. B. Fehlermeldungen oder Hinweise)</a:t>
            </a:r>
            <a:r>
              <a:rPr lang="de-DE" sz="2000" dirty="0"/>
              <a:t> an den Benutzer senden kannst.</a:t>
            </a:r>
          </a:p>
          <a:p>
            <a:endParaRPr lang="de-DE" sz="2000" b="1" dirty="0"/>
          </a:p>
          <a:p>
            <a:r>
              <a:rPr lang="de-DE" sz="2000" dirty="0"/>
              <a:t>Wird nur einmal, beim nächsten Seitenaufruf Danach ist sie wieder weg. (Bei: </a:t>
            </a:r>
            <a:r>
              <a:rPr lang="de-DE" sz="2000" dirty="0">
                <a:solidFill>
                  <a:srgbClr val="FF0000"/>
                </a:solidFill>
              </a:rPr>
              <a:t>Path.py</a:t>
            </a:r>
            <a:r>
              <a:rPr lang="de-DE" sz="2000" dirty="0"/>
              <a:t>)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32103873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23000">
              <a:schemeClr val="accent1">
                <a:lumMod val="5000"/>
                <a:lumOff val="9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feld 3">
            <a:extLst>
              <a:ext uri="{FF2B5EF4-FFF2-40B4-BE49-F238E27FC236}">
                <a16:creationId xmlns:a16="http://schemas.microsoft.com/office/drawing/2014/main" id="{72D69251-511D-4E6E-AD8C-35F339D21FBA}"/>
              </a:ext>
            </a:extLst>
          </p:cNvPr>
          <p:cNvSpPr txBox="1"/>
          <p:nvPr/>
        </p:nvSpPr>
        <p:spPr>
          <a:xfrm>
            <a:off x="841611" y="912995"/>
            <a:ext cx="8260185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b="1" dirty="0" err="1"/>
              <a:t>Blueprint</a:t>
            </a:r>
            <a:r>
              <a:rPr lang="de-DE" sz="2800" b="1" dirty="0"/>
              <a:t>:</a:t>
            </a:r>
            <a:endParaRPr lang="de-DE" sz="2000" b="1" dirty="0"/>
          </a:p>
          <a:p>
            <a:r>
              <a:rPr lang="de-DE" sz="2000" b="1" dirty="0"/>
              <a:t>Teile deiner App in Module zu organisieren</a:t>
            </a:r>
            <a:r>
              <a:rPr lang="de-DE" sz="2000" dirty="0"/>
              <a:t> – also Routen, Views, Templates, statische Dateien usw. in </a:t>
            </a:r>
            <a:r>
              <a:rPr lang="de-DE" sz="2000" b="1" dirty="0"/>
              <a:t>mehrere Dateien</a:t>
            </a:r>
            <a:r>
              <a:rPr lang="de-DE" sz="2000" dirty="0"/>
              <a:t> zu verteilen.</a:t>
            </a:r>
          </a:p>
          <a:p>
            <a:endParaRPr lang="de-DE" sz="2000" b="1" dirty="0"/>
          </a:p>
          <a:p>
            <a:r>
              <a:rPr lang="de-DE" sz="2000" dirty="0"/>
              <a:t>1) </a:t>
            </a:r>
            <a:r>
              <a:rPr lang="de-DE" sz="2000" dirty="0" err="1"/>
              <a:t>Blueprint</a:t>
            </a:r>
            <a:r>
              <a:rPr lang="de-DE" sz="2000" dirty="0"/>
              <a:t> definieren (</a:t>
            </a:r>
            <a:r>
              <a:rPr lang="de-DE" sz="2000" dirty="0">
                <a:solidFill>
                  <a:srgbClr val="FF0000"/>
                </a:solidFill>
              </a:rPr>
              <a:t>in </a:t>
            </a:r>
            <a:r>
              <a:rPr lang="de-DE" sz="2000" dirty="0" err="1">
                <a:solidFill>
                  <a:srgbClr val="FF0000"/>
                </a:solidFill>
              </a:rPr>
              <a:t>auth</a:t>
            </a:r>
            <a:r>
              <a:rPr lang="de-DE" sz="2000" dirty="0">
                <a:solidFill>
                  <a:srgbClr val="FF0000"/>
                </a:solidFill>
              </a:rPr>
              <a:t>, </a:t>
            </a:r>
            <a:r>
              <a:rPr lang="de-DE" sz="2000" dirty="0" err="1">
                <a:solidFill>
                  <a:srgbClr val="FF0000"/>
                </a:solidFill>
              </a:rPr>
              <a:t>view</a:t>
            </a:r>
            <a:r>
              <a:rPr lang="de-DE" sz="2000" dirty="0">
                <a:solidFill>
                  <a:srgbClr val="FF0000"/>
                </a:solidFill>
              </a:rPr>
              <a:t>,..)</a:t>
            </a:r>
          </a:p>
          <a:p>
            <a:r>
              <a:rPr lang="de-DE" sz="2000" dirty="0"/>
              <a:t>2) Registrieren: in </a:t>
            </a:r>
            <a:r>
              <a:rPr lang="de-DE" sz="2000" dirty="0">
                <a:solidFill>
                  <a:srgbClr val="FF0000"/>
                </a:solidFill>
              </a:rPr>
              <a:t>__init__.py </a:t>
            </a:r>
            <a:r>
              <a:rPr lang="de-DE" sz="2000" dirty="0"/>
              <a:t>(Zeile: 19)</a:t>
            </a:r>
          </a:p>
          <a:p>
            <a:endParaRPr lang="en-GB" sz="2800" b="1" dirty="0"/>
          </a:p>
        </p:txBody>
      </p:sp>
    </p:spTree>
    <p:extLst>
      <p:ext uri="{BB962C8B-B14F-4D97-AF65-F5344CB8AC3E}">
        <p14:creationId xmlns:p14="http://schemas.microsoft.com/office/powerpoint/2010/main" val="12926981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feld 3">
            <a:extLst>
              <a:ext uri="{FF2B5EF4-FFF2-40B4-BE49-F238E27FC236}">
                <a16:creationId xmlns:a16="http://schemas.microsoft.com/office/drawing/2014/main" id="{94727099-81E9-4501-B752-2E389CD5885F}"/>
              </a:ext>
            </a:extLst>
          </p:cNvPr>
          <p:cNvSpPr txBox="1"/>
          <p:nvPr/>
        </p:nvSpPr>
        <p:spPr>
          <a:xfrm>
            <a:off x="653131" y="687913"/>
            <a:ext cx="6619865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b="1" dirty="0" err="1"/>
              <a:t>Tailwindcss</a:t>
            </a:r>
            <a:r>
              <a:rPr lang="de-DE" sz="2800" b="1" dirty="0"/>
              <a:t>: </a:t>
            </a:r>
          </a:p>
          <a:p>
            <a:r>
              <a:rPr lang="de-DE" sz="2400" dirty="0"/>
              <a:t>Ist ein CSS Framework, was es ermöglicht in der HTML CSS-Code schnell zu schreiben. 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314009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650</Words>
  <Application>Microsoft Office PowerPoint</Application>
  <PresentationFormat>Breitbild</PresentationFormat>
  <Paragraphs>90</Paragraphs>
  <Slides>11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</vt:lpstr>
      <vt:lpstr>WarenWeltOOP: Was habe ich benutzt?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Robert Gossak</dc:creator>
  <cp:lastModifiedBy>Robert Gossak</cp:lastModifiedBy>
  <cp:revision>39</cp:revision>
  <dcterms:created xsi:type="dcterms:W3CDTF">2025-06-17T05:56:34Z</dcterms:created>
  <dcterms:modified xsi:type="dcterms:W3CDTF">2025-06-18T06:39:48Z</dcterms:modified>
</cp:coreProperties>
</file>